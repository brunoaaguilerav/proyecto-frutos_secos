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Lato"/>
      <p:regular r:id="rId13"/>
      <p:bold r:id="rId14"/>
      <p:italic r:id="rId15"/>
      <p:boldItalic r:id="rId16"/>
    </p:embeddedFon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7" Type="http://schemas.openxmlformats.org/officeDocument/2006/relationships/font" Target="fonts/Poppins-regular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26655d6f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e26655d6f6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10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8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21" Type="http://schemas.openxmlformats.org/officeDocument/2006/relationships/image" Target="../media/image23.png"/><Relationship Id="rId13" Type="http://schemas.openxmlformats.org/officeDocument/2006/relationships/image" Target="../media/image19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7" Type="http://schemas.openxmlformats.org/officeDocument/2006/relationships/image" Target="../media/image21.png"/><Relationship Id="rId16" Type="http://schemas.openxmlformats.org/officeDocument/2006/relationships/image" Target="../media/image22.png"/><Relationship Id="rId5" Type="http://schemas.openxmlformats.org/officeDocument/2006/relationships/image" Target="../media/image8.png"/><Relationship Id="rId19" Type="http://schemas.openxmlformats.org/officeDocument/2006/relationships/image" Target="../media/image27.png"/><Relationship Id="rId6" Type="http://schemas.openxmlformats.org/officeDocument/2006/relationships/image" Target="../media/image4.png"/><Relationship Id="rId18" Type="http://schemas.openxmlformats.org/officeDocument/2006/relationships/image" Target="../media/image26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37.png"/><Relationship Id="rId7" Type="http://schemas.openxmlformats.org/officeDocument/2006/relationships/image" Target="../media/image30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7640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9A825"/>
                </a:solidFill>
                <a:latin typeface="Lato"/>
                <a:ea typeface="Lato"/>
                <a:cs typeface="Lato"/>
                <a:sym typeface="Lato"/>
              </a:rPr>
              <a:t>DUOC UC • SEDE MAIPÚ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12407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Frutos Secos Velásquez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514725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Arquitectura de Microservicios </a:t>
            </a:r>
            <a:endParaRPr/>
          </a:p>
        </p:txBody>
      </p:sp>
      <p:grpSp>
        <p:nvGrpSpPr>
          <p:cNvPr id="88" name="Google Shape;88;p13"/>
          <p:cNvGrpSpPr/>
          <p:nvPr/>
        </p:nvGrpSpPr>
        <p:grpSpPr>
          <a:xfrm>
            <a:off x="571500" y="4514850"/>
            <a:ext cx="11049000" cy="666900"/>
            <a:chOff x="571500" y="4514850"/>
            <a:chExt cx="11049000" cy="666900"/>
          </a:xfrm>
        </p:grpSpPr>
        <p:sp>
          <p:nvSpPr>
            <p:cNvPr id="89" name="Google Shape;89;p13"/>
            <p:cNvSpPr/>
            <p:nvPr/>
          </p:nvSpPr>
          <p:spPr>
            <a:xfrm>
              <a:off x="571500" y="4514850"/>
              <a:ext cx="11049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571500" y="4514850"/>
              <a:ext cx="1104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4481"/>
                  </a:solidFill>
                  <a:latin typeface="Lato"/>
                  <a:ea typeface="Lato"/>
                  <a:cs typeface="Lato"/>
                  <a:sym typeface="Lato"/>
                </a:rPr>
                <a:t>FullStack 1 • Sección 010D</a:t>
              </a:r>
              <a:endParaRPr b="1" sz="160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004481"/>
                  </a:solidFill>
                  <a:latin typeface="Lato"/>
                  <a:ea typeface="Lato"/>
                  <a:cs typeface="Lato"/>
                  <a:sym typeface="Lato"/>
                </a:rPr>
                <a:t>Integrantes: </a:t>
              </a:r>
              <a:r>
                <a:rPr b="1" lang="en-US" sz="1400">
                  <a:solidFill>
                    <a:srgbClr val="004481"/>
                  </a:solidFill>
                  <a:latin typeface="Lato"/>
                  <a:ea typeface="Lato"/>
                  <a:cs typeface="Lato"/>
                  <a:sym typeface="Lato"/>
                </a:rPr>
                <a:t>Bruno Aguilera</a:t>
              </a:r>
              <a:r>
                <a:rPr b="0" lang="en-US" sz="1400">
                  <a:solidFill>
                    <a:srgbClr val="004481"/>
                  </a:solidFill>
                  <a:latin typeface="Lato"/>
                  <a:ea typeface="Lato"/>
                  <a:cs typeface="Lato"/>
                  <a:sym typeface="Lato"/>
                </a:rPr>
                <a:t> • </a:t>
              </a:r>
              <a:r>
                <a:rPr b="1" lang="en-US" sz="1400">
                  <a:solidFill>
                    <a:srgbClr val="004481"/>
                  </a:solidFill>
                  <a:latin typeface="Lato"/>
                  <a:ea typeface="Lato"/>
                  <a:cs typeface="Lato"/>
                  <a:sym typeface="Lato"/>
                </a:rPr>
                <a:t>Oliver Vidal</a:t>
              </a:r>
              <a:endParaRPr b="0" sz="140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Contexto del Caso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1766887"/>
            <a:ext cx="56007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Problemática Actual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062825"/>
            <a:ext cx="533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cliente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Frutos Secos Velásquez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ya opera con un sistema pero es bastante primitivo, limitando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así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uso tanto para el cliente como para el negocio.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342900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Objetivos </a:t>
            </a:r>
            <a:r>
              <a:rPr b="1" lang="en-US" sz="1404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a conseguir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24000"/>
            <a:ext cx="533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47725" y="3859053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857625"/>
            <a:ext cx="4953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Integrar un sistema de seguridad basado en inicio de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sesión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tokens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7725" y="4384516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4403407"/>
            <a:ext cx="4953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Expandir entorno de compra y venta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7725" y="4666138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437" y="2095500"/>
            <a:ext cx="20955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3312" y="2095500"/>
            <a:ext cx="20955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3174" y="2095500"/>
            <a:ext cx="2293723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63062" y="2095500"/>
            <a:ext cx="20955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48250" y="3981450"/>
            <a:ext cx="20955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5715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MER (modelo-entidad-</a:t>
            </a:r>
            <a:r>
              <a:rPr b="1" lang="en-US" sz="2850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relación</a:t>
            </a:r>
            <a:r>
              <a:rPr b="1" lang="en-US" sz="2850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1676400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Diseño de Entidades y Relaciones Lógicas entre Bases de Datos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6057900"/>
            <a:ext cx="110490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Las relaciones son </a:t>
            </a:r>
            <a:r>
              <a:rPr b="1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Lógicas</a:t>
            </a: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para mantener la autonomía de las 5 bases de datos. La integridad se asegura vía </a:t>
            </a:r>
            <a:r>
              <a:rPr b="1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API Gateway</a:t>
            </a: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b="1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WebClient</a:t>
            </a: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28912" y="6076950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852487" y="2114550"/>
            <a:ext cx="2057400" cy="333375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28687" y="219075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PRODUCTO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662362" y="2114550"/>
            <a:ext cx="2057400" cy="333375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738562" y="219075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INVENTARIO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6472225" y="2114550"/>
            <a:ext cx="2274600" cy="3333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548437" y="219075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VENTA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9282112" y="2114550"/>
            <a:ext cx="2057400" cy="333375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358312" y="219075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DETALLE_VENTA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067300" y="4000500"/>
            <a:ext cx="2057400" cy="333375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143500" y="4076700"/>
            <a:ext cx="190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RESUMEN_DIARIO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47737" y="2581275"/>
            <a:ext cx="1866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ID (PK)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947737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47737" y="2867025"/>
            <a:ext cx="1866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Nombre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947737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47737" y="3152775"/>
            <a:ext cx="1866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Precio_Venta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947737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47737" y="3438525"/>
            <a:ext cx="18669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Categoría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757612" y="25812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idStock</a:t>
            </a:r>
            <a:r>
              <a:rPr b="1" i="0" lang="en-US" sz="105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 (PK)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3757612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3757612" y="28670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idProducto</a:t>
            </a: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(FK)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757612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3757612" y="31527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tockActual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3757612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757612" y="3438525"/>
            <a:ext cx="186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6567487" y="25812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idVenta</a:t>
            </a:r>
            <a:r>
              <a:rPr b="1" i="0" lang="en-US" sz="105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 (PK)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567487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6567487" y="28670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echaHora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6567487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567487" y="3152775"/>
            <a:ext cx="1866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total</a:t>
            </a:r>
            <a:endParaRPr sz="10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medioPago</a:t>
            </a:r>
            <a:endParaRPr sz="10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9377362" y="25812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idDetalle</a:t>
            </a:r>
            <a:r>
              <a:rPr b="1" i="0" lang="en-US" sz="105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 (PK)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9377362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9377362" y="28670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venta</a:t>
            </a: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(FK)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9377362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9377362" y="31527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idProducto</a:t>
            </a:r>
            <a:r>
              <a:rPr b="0" i="1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(FK)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9377362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9377362" y="34385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antidad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5162550" y="44672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idReporte</a:t>
            </a:r>
            <a:r>
              <a:rPr b="1" i="0" lang="en-US" sz="105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 (PK)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5162550" y="47053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5162550" y="4752975"/>
            <a:ext cx="18669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Fecha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5162550" y="49911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5162550" y="50387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ingresosTotales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5162550" y="52768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5162550" y="532447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costosTotales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5162550" y="55626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5162550" y="5610225"/>
            <a:ext cx="186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utilidadNeta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947737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947737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947737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3757612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3757612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757612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567487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6567487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9377362" y="28194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9377362" y="31051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9377362" y="33909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5162550" y="47053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5162550" y="49911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5162550" y="527685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/>
          <p:nvPr/>
        </p:nvSpPr>
        <p:spPr>
          <a:xfrm>
            <a:off x="5162550" y="5562600"/>
            <a:ext cx="18669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025" y="1243225"/>
            <a:ext cx="11827226" cy="56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5" y="1319213"/>
            <a:ext cx="271462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1524000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524000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1524000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76625" y="2752725"/>
            <a:ext cx="26193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8875" y="2752725"/>
            <a:ext cx="538162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91375" y="2295525"/>
            <a:ext cx="7143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39350" y="2295525"/>
            <a:ext cx="5429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71987" y="3524250"/>
            <a:ext cx="6286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0600" y="3533775"/>
            <a:ext cx="6381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6"/>
          <p:cNvSpPr txBox="1"/>
          <p:nvPr/>
        </p:nvSpPr>
        <p:spPr>
          <a:xfrm>
            <a:off x="571500" y="5715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Arquitectura de Microservicios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571500" y="1209675"/>
            <a:ext cx="11049000" cy="285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3128075" y="2745100"/>
            <a:ext cx="26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image.png" id="201" name="Google Shape;201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55412" y="154781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6"/>
          <p:cNvSpPr txBox="1"/>
          <p:nvPr/>
        </p:nvSpPr>
        <p:spPr>
          <a:xfrm>
            <a:off x="464825" y="2024063"/>
            <a:ext cx="225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API GATEWAY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464825" y="2205038"/>
            <a:ext cx="225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Puerto </a:t>
            </a: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9090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464825" y="2462213"/>
            <a:ext cx="22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Punto único de entrada </a:t>
            </a:r>
            <a:endParaRPr/>
          </a:p>
        </p:txBody>
      </p:sp>
      <p:pic>
        <p:nvPicPr>
          <p:cNvPr descr="image.png" id="205" name="Google Shape;20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638550" y="1685925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6"/>
          <p:cNvSpPr txBox="1"/>
          <p:nvPr/>
        </p:nvSpPr>
        <p:spPr>
          <a:xfrm>
            <a:off x="3638550" y="196215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Catalog Service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3638550" y="212407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8082</a:t>
            </a:r>
            <a:endParaRPr/>
          </a:p>
        </p:txBody>
      </p:sp>
      <p:pic>
        <p:nvPicPr>
          <p:cNvPr descr="image.png" id="208" name="Google Shape;208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00800" y="1685925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 txBox="1"/>
          <p:nvPr/>
        </p:nvSpPr>
        <p:spPr>
          <a:xfrm>
            <a:off x="6400800" y="196215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Inventory Service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6400800" y="212407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8083</a:t>
            </a:r>
            <a:endParaRPr/>
          </a:p>
        </p:txBody>
      </p:sp>
      <p:pic>
        <p:nvPicPr>
          <p:cNvPr descr="image.png" id="211" name="Google Shape;211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163050" y="1685925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9163050" y="196215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Sales Service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9163050" y="212407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8089</a:t>
            </a:r>
            <a:endParaRPr/>
          </a:p>
        </p:txBody>
      </p:sp>
      <p:pic>
        <p:nvPicPr>
          <p:cNvPr descr="image.png" id="214" name="Google Shape;214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638550" y="2914650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6"/>
          <p:cNvSpPr txBox="1"/>
          <p:nvPr/>
        </p:nvSpPr>
        <p:spPr>
          <a:xfrm>
            <a:off x="3638550" y="3190875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Purchasing Service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3638550" y="3352800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8090</a:t>
            </a:r>
            <a:endParaRPr/>
          </a:p>
        </p:txBody>
      </p:sp>
      <p:pic>
        <p:nvPicPr>
          <p:cNvPr descr="image.png" id="217" name="Google Shape;217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10325" y="2924175"/>
            <a:ext cx="50387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6410325" y="3200400"/>
            <a:ext cx="503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Analytics Service (Cerebro ROI)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6410325" y="3362325"/>
            <a:ext cx="5038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8091</a:t>
            </a:r>
            <a:endParaRPr/>
          </a:p>
        </p:txBody>
      </p:sp>
      <p:pic>
        <p:nvPicPr>
          <p:cNvPr descr="image.png" id="220" name="Google Shape;220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410325" y="3733800"/>
            <a:ext cx="50387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6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 rot="5400000">
            <a:off x="9659597" y="4300975"/>
            <a:ext cx="2042175" cy="303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448175" y="2295525"/>
            <a:ext cx="6762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13" y="4438650"/>
            <a:ext cx="26193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 txBox="1"/>
          <p:nvPr/>
        </p:nvSpPr>
        <p:spPr>
          <a:xfrm>
            <a:off x="3638538" y="487680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Lato"/>
                <a:ea typeface="Lato"/>
                <a:cs typeface="Lato"/>
                <a:sym typeface="Lato"/>
              </a:rPr>
              <a:t>Shipping Service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638538" y="503872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8087</a:t>
            </a:r>
            <a:endParaRPr/>
          </a:p>
        </p:txBody>
      </p:sp>
      <p:pic>
        <p:nvPicPr>
          <p:cNvPr descr="image.png" id="226" name="Google Shape;2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900" y="4438650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00825" y="4600575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6400825" y="487680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/>
              <a:t>Customer Service</a:t>
            </a:r>
            <a:endParaRPr b="1" sz="1050"/>
          </a:p>
        </p:txBody>
      </p:sp>
      <p:sp>
        <p:nvSpPr>
          <p:cNvPr id="229" name="Google Shape;229;p16"/>
          <p:cNvSpPr txBox="1"/>
          <p:nvPr/>
        </p:nvSpPr>
        <p:spPr>
          <a:xfrm>
            <a:off x="6400825" y="503872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8084</a:t>
            </a:r>
            <a:endParaRPr/>
          </a:p>
        </p:txBody>
      </p:sp>
      <p:pic>
        <p:nvPicPr>
          <p:cNvPr descr="image.png" id="230" name="Google Shape;2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75" y="4438650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163100" y="4600575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 txBox="1"/>
          <p:nvPr/>
        </p:nvSpPr>
        <p:spPr>
          <a:xfrm>
            <a:off x="9163100" y="4876800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Lato"/>
                <a:ea typeface="Lato"/>
                <a:cs typeface="Lato"/>
                <a:sym typeface="Lato"/>
              </a:rPr>
              <a:t>Payment Service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9163100" y="5038725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8085</a:t>
            </a:r>
            <a:endParaRPr/>
          </a:p>
        </p:txBody>
      </p:sp>
      <p:pic>
        <p:nvPicPr>
          <p:cNvPr descr="image.png" id="234" name="Google Shape;23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7900" y="5667375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989825" y="5829300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/>
          <p:nvPr/>
        </p:nvSpPr>
        <p:spPr>
          <a:xfrm>
            <a:off x="4989825" y="6105525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Lato"/>
                <a:ea typeface="Lato"/>
                <a:cs typeface="Lato"/>
                <a:sym typeface="Lato"/>
              </a:rPr>
              <a:t>Promo Service</a:t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4989825" y="6267450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8086</a:t>
            </a:r>
            <a:endParaRPr/>
          </a:p>
        </p:txBody>
      </p:sp>
      <p:pic>
        <p:nvPicPr>
          <p:cNvPr descr="image.png" id="238" name="Google Shape;2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3675" y="5667375"/>
            <a:ext cx="2619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95600" y="5829300"/>
            <a:ext cx="22955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 txBox="1"/>
          <p:nvPr/>
        </p:nvSpPr>
        <p:spPr>
          <a:xfrm>
            <a:off x="7895600" y="6105525"/>
            <a:ext cx="2295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latin typeface="Lato"/>
                <a:ea typeface="Lato"/>
                <a:cs typeface="Lato"/>
                <a:sym typeface="Lato"/>
              </a:rPr>
              <a:t>Notification Service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7895600" y="6267450"/>
            <a:ext cx="22956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latin typeface="Lato"/>
                <a:ea typeface="Lato"/>
                <a:cs typeface="Lato"/>
                <a:sym typeface="Lato"/>
              </a:rPr>
              <a:t>8088</a:t>
            </a:r>
            <a:endParaRPr/>
          </a:p>
        </p:txBody>
      </p:sp>
      <p:pic>
        <p:nvPicPr>
          <p:cNvPr descr="image.png" id="242" name="Google Shape;242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638600" y="4552950"/>
            <a:ext cx="2295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50" y="2994763"/>
            <a:ext cx="271462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55437" y="32233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 txBox="1"/>
          <p:nvPr/>
        </p:nvSpPr>
        <p:spPr>
          <a:xfrm>
            <a:off x="464850" y="3699613"/>
            <a:ext cx="2257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AUTH SERVICE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464850" y="3880588"/>
            <a:ext cx="225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Puerto </a:t>
            </a: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8081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464850" y="4137763"/>
            <a:ext cx="22575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SEGURIDAD DE LOS MICROSERVICIOS</a:t>
            </a:r>
            <a:endParaRPr/>
          </a:p>
        </p:txBody>
      </p:sp>
      <p:sp>
        <p:nvSpPr>
          <p:cNvPr id="248" name="Google Shape;248;p16"/>
          <p:cNvSpPr/>
          <p:nvPr/>
        </p:nvSpPr>
        <p:spPr>
          <a:xfrm rot="5397881">
            <a:off x="1350294" y="2771702"/>
            <a:ext cx="486600" cy="26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3917575" y="5187490"/>
            <a:ext cx="1639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db_shipping</a:t>
            </a:r>
            <a:endParaRPr sz="95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/>
        </p:nvSpPr>
        <p:spPr>
          <a:xfrm>
            <a:off x="7042342" y="5195147"/>
            <a:ext cx="1012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db_customers</a:t>
            </a:r>
            <a:endParaRPr sz="85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9804642" y="5195135"/>
            <a:ext cx="1012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db_pago</a:t>
            </a:r>
            <a:endParaRPr sz="85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 txBox="1"/>
          <p:nvPr/>
        </p:nvSpPr>
        <p:spPr>
          <a:xfrm>
            <a:off x="5631367" y="6394572"/>
            <a:ext cx="1012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db_promos</a:t>
            </a:r>
            <a:endParaRPr sz="85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8537117" y="6394572"/>
            <a:ext cx="1012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db_notifications</a:t>
            </a:r>
            <a:endParaRPr sz="85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5334000" cy="40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Arquitectura de Microservicios</a:t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771525" y="1724025"/>
            <a:ext cx="518064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Componentes Core: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6286500" y="2113359"/>
            <a:ext cx="5334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Implementar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patrón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CSR (Controller-Service-Repository)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cada servicio para asegurar la separación de responsabilidades y la mantenibilidad del código.</a:t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1009650" y="2105173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1152525" y="2107555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API Gateway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9090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Enrutamiento centralizado.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1009650" y="2376636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1152525" y="2663497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Catalog (8082):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Maestro de productos.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1009650" y="2648098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1152525" y="4560560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Purchasing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8090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Registro de gastos.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9650" y="2919561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1152525" y="477106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Analytics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8091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Inteligencia de negocios.</a:t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1009650" y="3191023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1152525" y="2919085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Inventory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8083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Gestión de existencias.</a:t>
            </a:r>
            <a:endParaRPr/>
          </a:p>
        </p:txBody>
      </p:sp>
      <p:sp>
        <p:nvSpPr>
          <p:cNvPr id="274" name="Google Shape;274;p17"/>
          <p:cNvSpPr txBox="1"/>
          <p:nvPr/>
        </p:nvSpPr>
        <p:spPr>
          <a:xfrm>
            <a:off x="1009650" y="3462475"/>
            <a:ext cx="2907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sz="1425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5" name="Google Shape;275;p17"/>
          <p:cNvSpPr txBox="1"/>
          <p:nvPr/>
        </p:nvSpPr>
        <p:spPr>
          <a:xfrm>
            <a:off x="1152450" y="389651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Shipping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8087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Registro de despachos</a:t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1152525" y="4328467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Sales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8089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Transacciones de venta.</a:t>
            </a:r>
            <a:endParaRPr/>
          </a:p>
        </p:txBody>
      </p:sp>
      <p:pic>
        <p:nvPicPr>
          <p:cNvPr descr="image.png" id="277" name="Google Shape;2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3960896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146260" y="318873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Customer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8084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 de clientes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146260" y="411329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Notification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8088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 de notificaciones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146260" y="345289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Payment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8085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Transacciones de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pagos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152525" y="2381875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Authentication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8081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 de seguridad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1136100" y="3676412"/>
            <a:ext cx="4553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Promos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(8086):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 de promociones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Frameworks y Herramientas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0" name="Google Shape;29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6525" y="17145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8"/>
          <p:cNvSpPr txBox="1"/>
          <p:nvPr/>
        </p:nvSpPr>
        <p:spPr>
          <a:xfrm>
            <a:off x="762000" y="2276475"/>
            <a:ext cx="3174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Spring Boot 3.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Desarrollo del Backend</a:t>
            </a:r>
            <a:endParaRPr/>
          </a:p>
        </p:txBody>
      </p:sp>
      <p:pic>
        <p:nvPicPr>
          <p:cNvPr descr="image.png" id="292" name="Google Shape;2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351" y="1714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 txBox="1"/>
          <p:nvPr/>
        </p:nvSpPr>
        <p:spPr>
          <a:xfrm>
            <a:off x="4508450" y="2276475"/>
            <a:ext cx="31749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Spring Data JPA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Persistencia de Datos</a:t>
            </a:r>
            <a:endParaRPr/>
          </a:p>
        </p:txBody>
      </p:sp>
      <p:pic>
        <p:nvPicPr>
          <p:cNvPr descr="image.png" id="294" name="Google Shape;2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75762" y="1714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 txBox="1"/>
          <p:nvPr/>
        </p:nvSpPr>
        <p:spPr>
          <a:xfrm>
            <a:off x="8254900" y="2276475"/>
            <a:ext cx="31750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MySQL (XAMPP)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Bases de Datos Locales</a:t>
            </a:r>
            <a:endParaRPr/>
          </a:p>
        </p:txBody>
      </p:sp>
      <p:pic>
        <p:nvPicPr>
          <p:cNvPr descr="image.png" id="296" name="Google Shape;29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8900" y="3571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8"/>
          <p:cNvSpPr txBox="1"/>
          <p:nvPr/>
        </p:nvSpPr>
        <p:spPr>
          <a:xfrm>
            <a:off x="762000" y="4133850"/>
            <a:ext cx="31749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Postman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Pruebas de Endpoints</a:t>
            </a:r>
            <a:endParaRPr/>
          </a:p>
        </p:txBody>
      </p:sp>
      <p:pic>
        <p:nvPicPr>
          <p:cNvPr descr="image.png" id="298" name="Google Shape;29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10113" y="3571875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8"/>
          <p:cNvSpPr txBox="1"/>
          <p:nvPr/>
        </p:nvSpPr>
        <p:spPr>
          <a:xfrm>
            <a:off x="4508450" y="4133850"/>
            <a:ext cx="31749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GitHub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de Versiones</a:t>
            </a:r>
            <a:endParaRPr/>
          </a:p>
        </p:txBody>
      </p:sp>
      <p:pic>
        <p:nvPicPr>
          <p:cNvPr descr="image.png" id="300" name="Google Shape;30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4325" y="35718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8"/>
          <p:cNvSpPr txBox="1"/>
          <p:nvPr/>
        </p:nvSpPr>
        <p:spPr>
          <a:xfrm>
            <a:off x="8254900" y="4133850"/>
            <a:ext cx="317509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VS Code / Maven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Entorno de Desarrollo</a:t>
            </a:r>
            <a:endParaRPr/>
          </a:p>
        </p:txBody>
      </p:sp>
      <p:sp>
        <p:nvSpPr>
          <p:cNvPr id="302" name="Google Shape;302;p18"/>
          <p:cNvSpPr txBox="1"/>
          <p:nvPr/>
        </p:nvSpPr>
        <p:spPr>
          <a:xfrm>
            <a:off x="619600" y="4857750"/>
            <a:ext cx="3459600" cy="1662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52211" y="4908525"/>
            <a:ext cx="794377" cy="7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8"/>
          <p:cNvSpPr txBox="1"/>
          <p:nvPr/>
        </p:nvSpPr>
        <p:spPr>
          <a:xfrm>
            <a:off x="762025" y="5749275"/>
            <a:ext cx="3174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Swagger UI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Pruebas e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481"/>
                </a:solidFill>
                <a:latin typeface="Poppins"/>
                <a:ea typeface="Poppins"/>
                <a:cs typeface="Poppins"/>
                <a:sym typeface="Poppins"/>
              </a:rPr>
              <a:t>Conclusión del Equipo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4550" y="1524000"/>
            <a:ext cx="3429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9"/>
          <p:cNvSpPr txBox="1"/>
          <p:nvPr/>
        </p:nvSpPr>
        <p:spPr>
          <a:xfrm>
            <a:off x="1809750" y="2324100"/>
            <a:ext cx="8572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481"/>
                </a:solidFill>
                <a:latin typeface="Lato"/>
                <a:ea typeface="Lato"/>
                <a:cs typeface="Lato"/>
                <a:sym typeface="Lato"/>
              </a:rPr>
              <a:t>"La transición hacia una arquitectura de microservicios permite que Frutos Secos Velásquez no solo resuelva sus problemas actuales, sino que esté preparado para una expansión digital."</a:t>
            </a:r>
            <a:endParaRPr/>
          </a:p>
        </p:txBody>
      </p:sp>
      <p:sp>
        <p:nvSpPr>
          <p:cNvPr id="314" name="Google Shape;314;p19"/>
          <p:cNvSpPr txBox="1"/>
          <p:nvPr/>
        </p:nvSpPr>
        <p:spPr>
          <a:xfrm>
            <a:off x="1809750" y="3581400"/>
            <a:ext cx="85725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equipo (Oliver y Bruno), hemos logrado integrar con éxito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b="0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servicios independientes que se comunican de forma síncrona, sentando las bases para los servicios </a:t>
            </a:r>
            <a:r>
              <a:rPr lang="en-US" sz="1425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1809750" y="4872037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¡Muchas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